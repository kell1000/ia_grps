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" charset="1" panose="020F0502020204030204"/>
      <p:regular r:id="rId11"/>
    </p:embeddedFont>
    <p:embeddedFont>
      <p:font typeface="KG Primary Penmanship" charset="1" panose="020005060000000200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BA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014578" y="1297210"/>
            <a:ext cx="3515928" cy="7961090"/>
            <a:chOff x="0" y="0"/>
            <a:chExt cx="4687904" cy="106147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0003" y="0"/>
              <a:ext cx="4207622" cy="4326604"/>
            </a:xfrm>
            <a:custGeom>
              <a:avLst/>
              <a:gdLst/>
              <a:ahLst/>
              <a:cxnLst/>
              <a:rect r="r" b="b" t="t" l="l"/>
              <a:pathLst>
                <a:path h="4326604" w="4207622">
                  <a:moveTo>
                    <a:pt x="0" y="0"/>
                  </a:moveTo>
                  <a:lnTo>
                    <a:pt x="4207623" y="0"/>
                  </a:lnTo>
                  <a:lnTo>
                    <a:pt x="4207623" y="4326604"/>
                  </a:lnTo>
                  <a:lnTo>
                    <a:pt x="0" y="4326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511383"/>
              <a:ext cx="3741640" cy="3887418"/>
            </a:xfrm>
            <a:custGeom>
              <a:avLst/>
              <a:gdLst/>
              <a:ahLst/>
              <a:cxnLst/>
              <a:rect r="r" b="b" t="t" l="l"/>
              <a:pathLst>
                <a:path h="3887418" w="3741640">
                  <a:moveTo>
                    <a:pt x="0" y="0"/>
                  </a:moveTo>
                  <a:lnTo>
                    <a:pt x="3741640" y="0"/>
                  </a:lnTo>
                  <a:lnTo>
                    <a:pt x="3741640" y="3887418"/>
                  </a:lnTo>
                  <a:lnTo>
                    <a:pt x="0" y="388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4672" y="6727368"/>
              <a:ext cx="4163232" cy="3887418"/>
            </a:xfrm>
            <a:custGeom>
              <a:avLst/>
              <a:gdLst/>
              <a:ahLst/>
              <a:cxnLst/>
              <a:rect r="r" b="b" t="t" l="l"/>
              <a:pathLst>
                <a:path h="3887418" w="4163232">
                  <a:moveTo>
                    <a:pt x="0" y="0"/>
                  </a:moveTo>
                  <a:lnTo>
                    <a:pt x="4163232" y="0"/>
                  </a:lnTo>
                  <a:lnTo>
                    <a:pt x="4163232" y="3887418"/>
                  </a:lnTo>
                  <a:lnTo>
                    <a:pt x="0" y="388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2366" y="1613767"/>
            <a:ext cx="12448480" cy="285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6"/>
              </a:lnSpc>
              <a:spcBef>
                <a:spcPct val="0"/>
              </a:spcBef>
            </a:pPr>
            <a:r>
              <a:rPr lang="en-US" sz="14854" strike="noStrike" u="none">
                <a:solidFill>
                  <a:srgbClr val="12100F"/>
                </a:solidFill>
                <a:latin typeface="Calibri (MS)"/>
                <a:ea typeface="Calibri (MS)"/>
                <a:cs typeface="Calibri (MS)"/>
                <a:sym typeface="Calibri (MS)"/>
              </a:rPr>
              <a:t>DISTRUBUTION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3446" y="4635203"/>
            <a:ext cx="10074012" cy="430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21"/>
              </a:lnSpc>
            </a:pPr>
            <a:r>
              <a:rPr lang="en-US" sz="80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</a:t>
            </a:r>
            <a:r>
              <a:rPr lang="en-US" sz="8015">
                <a:solidFill>
                  <a:srgbClr val="12100F"/>
                </a:solidFill>
                <a:latin typeface="Calibri (MS)"/>
                <a:ea typeface="Calibri (MS)"/>
                <a:cs typeface="Calibri (MS)"/>
                <a:sym typeface="Calibri (MS)"/>
              </a:rPr>
              <a:t>  UNIFORME </a:t>
            </a:r>
          </a:p>
          <a:p>
            <a:pPr algn="l">
              <a:lnSpc>
                <a:spcPts val="10661"/>
              </a:lnSpc>
            </a:pPr>
            <a:r>
              <a:rPr lang="en-US" sz="7615">
                <a:solidFill>
                  <a:srgbClr val="12100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&amp;</a:t>
            </a:r>
          </a:p>
          <a:p>
            <a:pPr algn="l">
              <a:lnSpc>
                <a:spcPts val="11221"/>
              </a:lnSpc>
              <a:spcBef>
                <a:spcPct val="0"/>
              </a:spcBef>
            </a:pPr>
            <a:r>
              <a:rPr lang="en-US" sz="8015">
                <a:solidFill>
                  <a:srgbClr val="12100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</a:t>
            </a:r>
            <a:r>
              <a:rPr lang="en-US" sz="8015">
                <a:solidFill>
                  <a:srgbClr val="12100F"/>
                </a:solidFill>
                <a:latin typeface="Calibri (MS)"/>
                <a:ea typeface="Calibri (MS)"/>
                <a:cs typeface="Calibri (MS)"/>
                <a:sym typeface="Calibri (MS)"/>
              </a:rPr>
              <a:t>BINOMIALE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BA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569060"/>
            <a:chOff x="0" y="0"/>
            <a:chExt cx="160662311" cy="238876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23742882"/>
            </a:xfrm>
            <a:custGeom>
              <a:avLst/>
              <a:gdLst/>
              <a:ahLst/>
              <a:cxnLst/>
              <a:rect r="r" b="b" t="t" l="l"/>
              <a:pathLst>
                <a:path h="23742882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23742882"/>
                  </a:lnTo>
                  <a:lnTo>
                    <a:pt x="0" y="2374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D69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23887661"/>
            </a:xfrm>
            <a:custGeom>
              <a:avLst/>
              <a:gdLst/>
              <a:ahLst/>
              <a:cxnLst/>
              <a:rect r="r" b="b" t="t" l="l"/>
              <a:pathLst>
                <a:path h="23887661" w="160662317">
                  <a:moveTo>
                    <a:pt x="160517532" y="23742881"/>
                  </a:moveTo>
                  <a:lnTo>
                    <a:pt x="160662317" y="23742881"/>
                  </a:lnTo>
                  <a:lnTo>
                    <a:pt x="160662317" y="23887661"/>
                  </a:lnTo>
                  <a:lnTo>
                    <a:pt x="160517532" y="23887661"/>
                  </a:lnTo>
                  <a:lnTo>
                    <a:pt x="160517532" y="237428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742881"/>
                  </a:lnTo>
                  <a:lnTo>
                    <a:pt x="0" y="23742881"/>
                  </a:lnTo>
                  <a:lnTo>
                    <a:pt x="0" y="144780"/>
                  </a:lnTo>
                  <a:close/>
                  <a:moveTo>
                    <a:pt x="0" y="23742881"/>
                  </a:moveTo>
                  <a:lnTo>
                    <a:pt x="144780" y="23742881"/>
                  </a:lnTo>
                  <a:lnTo>
                    <a:pt x="144780" y="23887661"/>
                  </a:lnTo>
                  <a:lnTo>
                    <a:pt x="0" y="23887661"/>
                  </a:lnTo>
                  <a:lnTo>
                    <a:pt x="0" y="23742881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23742881"/>
                  </a:lnTo>
                  <a:lnTo>
                    <a:pt x="160517532" y="23742881"/>
                  </a:lnTo>
                  <a:lnTo>
                    <a:pt x="160517532" y="144780"/>
                  </a:lnTo>
                  <a:close/>
                  <a:moveTo>
                    <a:pt x="144780" y="23742881"/>
                  </a:moveTo>
                  <a:lnTo>
                    <a:pt x="160517532" y="23742881"/>
                  </a:lnTo>
                  <a:lnTo>
                    <a:pt x="160517532" y="23887661"/>
                  </a:lnTo>
                  <a:lnTo>
                    <a:pt x="144780" y="23887661"/>
                  </a:lnTo>
                  <a:lnTo>
                    <a:pt x="144780" y="23742881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25603" y="3647458"/>
            <a:ext cx="17278844" cy="6160046"/>
            <a:chOff x="0" y="0"/>
            <a:chExt cx="160662311" cy="57277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390" y="72390"/>
              <a:ext cx="160517535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62317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160662317">
                  <a:moveTo>
                    <a:pt x="160517532" y="57132618"/>
                  </a:moveTo>
                  <a:lnTo>
                    <a:pt x="160662317" y="57132618"/>
                  </a:lnTo>
                  <a:lnTo>
                    <a:pt x="160662317" y="57277397"/>
                  </a:lnTo>
                  <a:lnTo>
                    <a:pt x="160517532" y="57277397"/>
                  </a:lnTo>
                  <a:lnTo>
                    <a:pt x="16051753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57132618"/>
                  </a:lnTo>
                  <a:lnTo>
                    <a:pt x="160517532" y="57132618"/>
                  </a:lnTo>
                  <a:lnTo>
                    <a:pt x="160517532" y="144780"/>
                  </a:lnTo>
                  <a:close/>
                  <a:moveTo>
                    <a:pt x="144780" y="57132618"/>
                  </a:moveTo>
                  <a:lnTo>
                    <a:pt x="160517532" y="57132618"/>
                  </a:lnTo>
                  <a:lnTo>
                    <a:pt x="16051753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5143500"/>
            <a:ext cx="3784072" cy="3931504"/>
          </a:xfrm>
          <a:custGeom>
            <a:avLst/>
            <a:gdLst/>
            <a:ahLst/>
            <a:cxnLst/>
            <a:rect r="r" b="b" t="t" l="l"/>
            <a:pathLst>
              <a:path h="3931504" w="3784072">
                <a:moveTo>
                  <a:pt x="0" y="0"/>
                </a:moveTo>
                <a:lnTo>
                  <a:pt x="3784072" y="0"/>
                </a:lnTo>
                <a:lnTo>
                  <a:pt x="3784072" y="3931504"/>
                </a:lnTo>
                <a:lnTo>
                  <a:pt x="0" y="3931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220027" y="676275"/>
            <a:ext cx="19856567" cy="174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5"/>
              </a:lnSpc>
              <a:spcBef>
                <a:spcPct val="0"/>
              </a:spcBef>
            </a:pPr>
            <a:r>
              <a:rPr lang="en-US" sz="921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SOMMAIRE: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75104" y="4069516"/>
            <a:ext cx="6699326" cy="55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7466" indent="-368733" lvl="1">
              <a:lnSpc>
                <a:spcPts val="4782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DISTRIBUTION UNIFORME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Définition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Formule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Exemple concret</a:t>
            </a:r>
          </a:p>
          <a:p>
            <a:pPr algn="l" marL="694287" indent="-347144" lvl="1">
              <a:lnSpc>
                <a:spcPts val="4502"/>
              </a:lnSpc>
              <a:buFont typeface="Arial"/>
              <a:buChar char="•"/>
            </a:pPr>
            <a:r>
              <a:rPr lang="en-US" sz="32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Distribution Binomiale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Définition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</a:t>
            </a: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FormuleS</a:t>
            </a: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EXEMPLE CONCRET</a:t>
            </a:r>
          </a:p>
          <a:p>
            <a:pPr algn="l">
              <a:lnSpc>
                <a:spcPts val="3382"/>
              </a:lnSpc>
            </a:pPr>
          </a:p>
          <a:p>
            <a:pPr algn="l">
              <a:lnSpc>
                <a:spcPts val="436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BA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2569060"/>
            <a:chOff x="0" y="0"/>
            <a:chExt cx="160662311" cy="238876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23742882"/>
            </a:xfrm>
            <a:custGeom>
              <a:avLst/>
              <a:gdLst/>
              <a:ahLst/>
              <a:cxnLst/>
              <a:rect r="r" b="b" t="t" l="l"/>
              <a:pathLst>
                <a:path h="23742882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23742882"/>
                  </a:lnTo>
                  <a:lnTo>
                    <a:pt x="0" y="2374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D69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23887661"/>
            </a:xfrm>
            <a:custGeom>
              <a:avLst/>
              <a:gdLst/>
              <a:ahLst/>
              <a:cxnLst/>
              <a:rect r="r" b="b" t="t" l="l"/>
              <a:pathLst>
                <a:path h="23887661" w="160662317">
                  <a:moveTo>
                    <a:pt x="160517532" y="23742881"/>
                  </a:moveTo>
                  <a:lnTo>
                    <a:pt x="160662317" y="23742881"/>
                  </a:lnTo>
                  <a:lnTo>
                    <a:pt x="160662317" y="23887661"/>
                  </a:lnTo>
                  <a:lnTo>
                    <a:pt x="160517532" y="23887661"/>
                  </a:lnTo>
                  <a:lnTo>
                    <a:pt x="160517532" y="2374288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23742881"/>
                  </a:lnTo>
                  <a:lnTo>
                    <a:pt x="0" y="23742881"/>
                  </a:lnTo>
                  <a:lnTo>
                    <a:pt x="0" y="144780"/>
                  </a:lnTo>
                  <a:close/>
                  <a:moveTo>
                    <a:pt x="0" y="23742881"/>
                  </a:moveTo>
                  <a:lnTo>
                    <a:pt x="144780" y="23742881"/>
                  </a:lnTo>
                  <a:lnTo>
                    <a:pt x="144780" y="23887661"/>
                  </a:lnTo>
                  <a:lnTo>
                    <a:pt x="0" y="23887661"/>
                  </a:lnTo>
                  <a:lnTo>
                    <a:pt x="0" y="23742881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23742881"/>
                  </a:lnTo>
                  <a:lnTo>
                    <a:pt x="160517532" y="23742881"/>
                  </a:lnTo>
                  <a:lnTo>
                    <a:pt x="160517532" y="144780"/>
                  </a:lnTo>
                  <a:close/>
                  <a:moveTo>
                    <a:pt x="144780" y="23742881"/>
                  </a:moveTo>
                  <a:lnTo>
                    <a:pt x="160517532" y="23742881"/>
                  </a:lnTo>
                  <a:lnTo>
                    <a:pt x="160517532" y="23887661"/>
                  </a:lnTo>
                  <a:lnTo>
                    <a:pt x="144780" y="23887661"/>
                  </a:lnTo>
                  <a:lnTo>
                    <a:pt x="144780" y="23742881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514350"/>
            <a:ext cx="16230600" cy="248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DEFINITION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4578" y="3578822"/>
            <a:ext cx="8365050" cy="6160046"/>
            <a:chOff x="0" y="0"/>
            <a:chExt cx="77779993" cy="572773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390" y="72390"/>
              <a:ext cx="77635214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9990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77779990">
                  <a:moveTo>
                    <a:pt x="77635212" y="57132618"/>
                  </a:moveTo>
                  <a:lnTo>
                    <a:pt x="77779990" y="57132618"/>
                  </a:lnTo>
                  <a:lnTo>
                    <a:pt x="77779990" y="57277397"/>
                  </a:lnTo>
                  <a:lnTo>
                    <a:pt x="77635212" y="57277397"/>
                  </a:lnTo>
                  <a:lnTo>
                    <a:pt x="7763521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57132618"/>
                  </a:lnTo>
                  <a:lnTo>
                    <a:pt x="77635212" y="57132618"/>
                  </a:lnTo>
                  <a:lnTo>
                    <a:pt x="77635212" y="144780"/>
                  </a:lnTo>
                  <a:close/>
                  <a:moveTo>
                    <a:pt x="144780" y="57132618"/>
                  </a:moveTo>
                  <a:lnTo>
                    <a:pt x="77635212" y="57132618"/>
                  </a:lnTo>
                  <a:lnTo>
                    <a:pt x="7763521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97460" y="3834721"/>
            <a:ext cx="7804755" cy="1308779"/>
            <a:chOff x="0" y="0"/>
            <a:chExt cx="72570247" cy="1216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72425467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2425467">
                  <a:moveTo>
                    <a:pt x="0" y="0"/>
                  </a:moveTo>
                  <a:lnTo>
                    <a:pt x="72425467" y="0"/>
                  </a:lnTo>
                  <a:lnTo>
                    <a:pt x="72425467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70249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2570249">
                  <a:moveTo>
                    <a:pt x="72425465" y="12024519"/>
                  </a:moveTo>
                  <a:lnTo>
                    <a:pt x="72570249" y="12024519"/>
                  </a:lnTo>
                  <a:lnTo>
                    <a:pt x="72570249" y="12169299"/>
                  </a:lnTo>
                  <a:lnTo>
                    <a:pt x="72425465" y="12169299"/>
                  </a:lnTo>
                  <a:lnTo>
                    <a:pt x="72425465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2425465" y="144780"/>
                  </a:moveTo>
                  <a:lnTo>
                    <a:pt x="72570249" y="144780"/>
                  </a:lnTo>
                  <a:lnTo>
                    <a:pt x="72570249" y="12024519"/>
                  </a:lnTo>
                  <a:lnTo>
                    <a:pt x="72425465" y="12024519"/>
                  </a:lnTo>
                  <a:lnTo>
                    <a:pt x="72425465" y="144780"/>
                  </a:lnTo>
                  <a:close/>
                  <a:moveTo>
                    <a:pt x="144780" y="12024519"/>
                  </a:moveTo>
                  <a:lnTo>
                    <a:pt x="72425465" y="12024519"/>
                  </a:lnTo>
                  <a:lnTo>
                    <a:pt x="72425465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2425465" y="0"/>
                  </a:moveTo>
                  <a:lnTo>
                    <a:pt x="72570249" y="0"/>
                  </a:lnTo>
                  <a:lnTo>
                    <a:pt x="72570249" y="144780"/>
                  </a:lnTo>
                  <a:lnTo>
                    <a:pt x="72425465" y="144780"/>
                  </a:lnTo>
                  <a:lnTo>
                    <a:pt x="724254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2425465" y="0"/>
                  </a:lnTo>
                  <a:lnTo>
                    <a:pt x="724254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4035154"/>
            <a:ext cx="73422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UNIFORME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18371" y="3578822"/>
            <a:ext cx="8365050" cy="6160046"/>
            <a:chOff x="0" y="0"/>
            <a:chExt cx="77779993" cy="572773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2390" y="72390"/>
              <a:ext cx="77635214" cy="57132614"/>
            </a:xfrm>
            <a:custGeom>
              <a:avLst/>
              <a:gdLst/>
              <a:ahLst/>
              <a:cxnLst/>
              <a:rect r="r" b="b" t="t" l="l"/>
              <a:pathLst>
                <a:path h="57132614" w="77635214">
                  <a:moveTo>
                    <a:pt x="0" y="0"/>
                  </a:moveTo>
                  <a:lnTo>
                    <a:pt x="77635214" y="0"/>
                  </a:lnTo>
                  <a:lnTo>
                    <a:pt x="77635214" y="57132614"/>
                  </a:lnTo>
                  <a:lnTo>
                    <a:pt x="0" y="57132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9990" cy="57277397"/>
            </a:xfrm>
            <a:custGeom>
              <a:avLst/>
              <a:gdLst/>
              <a:ahLst/>
              <a:cxnLst/>
              <a:rect r="r" b="b" t="t" l="l"/>
              <a:pathLst>
                <a:path h="57277397" w="77779990">
                  <a:moveTo>
                    <a:pt x="77635212" y="57132618"/>
                  </a:moveTo>
                  <a:lnTo>
                    <a:pt x="77779990" y="57132618"/>
                  </a:lnTo>
                  <a:lnTo>
                    <a:pt x="77779990" y="57277397"/>
                  </a:lnTo>
                  <a:lnTo>
                    <a:pt x="77635212" y="57277397"/>
                  </a:lnTo>
                  <a:lnTo>
                    <a:pt x="77635212" y="5713261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7132618"/>
                  </a:lnTo>
                  <a:lnTo>
                    <a:pt x="0" y="57132618"/>
                  </a:lnTo>
                  <a:lnTo>
                    <a:pt x="0" y="144780"/>
                  </a:lnTo>
                  <a:close/>
                  <a:moveTo>
                    <a:pt x="0" y="57132618"/>
                  </a:moveTo>
                  <a:lnTo>
                    <a:pt x="144780" y="57132618"/>
                  </a:lnTo>
                  <a:lnTo>
                    <a:pt x="144780" y="57277397"/>
                  </a:lnTo>
                  <a:lnTo>
                    <a:pt x="0" y="57277397"/>
                  </a:lnTo>
                  <a:lnTo>
                    <a:pt x="0" y="57132618"/>
                  </a:lnTo>
                  <a:close/>
                  <a:moveTo>
                    <a:pt x="77635212" y="144780"/>
                  </a:moveTo>
                  <a:lnTo>
                    <a:pt x="77779990" y="144780"/>
                  </a:lnTo>
                  <a:lnTo>
                    <a:pt x="77779990" y="57132618"/>
                  </a:lnTo>
                  <a:lnTo>
                    <a:pt x="77635212" y="57132618"/>
                  </a:lnTo>
                  <a:lnTo>
                    <a:pt x="77635212" y="144780"/>
                  </a:lnTo>
                  <a:close/>
                  <a:moveTo>
                    <a:pt x="144780" y="57132618"/>
                  </a:moveTo>
                  <a:lnTo>
                    <a:pt x="77635212" y="57132618"/>
                  </a:lnTo>
                  <a:lnTo>
                    <a:pt x="77635212" y="57277397"/>
                  </a:lnTo>
                  <a:lnTo>
                    <a:pt x="144780" y="57277397"/>
                  </a:lnTo>
                  <a:lnTo>
                    <a:pt x="144780" y="57132618"/>
                  </a:lnTo>
                  <a:close/>
                  <a:moveTo>
                    <a:pt x="77635212" y="0"/>
                  </a:moveTo>
                  <a:lnTo>
                    <a:pt x="77779990" y="0"/>
                  </a:lnTo>
                  <a:lnTo>
                    <a:pt x="77779990" y="144780"/>
                  </a:lnTo>
                  <a:lnTo>
                    <a:pt x="77635212" y="144780"/>
                  </a:lnTo>
                  <a:lnTo>
                    <a:pt x="7763521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7635212" y="0"/>
                  </a:lnTo>
                  <a:lnTo>
                    <a:pt x="7763521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98519" y="3834721"/>
            <a:ext cx="7804755" cy="1308779"/>
            <a:chOff x="0" y="0"/>
            <a:chExt cx="72570247" cy="121692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390" y="72390"/>
              <a:ext cx="72425467" cy="12024519"/>
            </a:xfrm>
            <a:custGeom>
              <a:avLst/>
              <a:gdLst/>
              <a:ahLst/>
              <a:cxnLst/>
              <a:rect r="r" b="b" t="t" l="l"/>
              <a:pathLst>
                <a:path h="12024519" w="72425467">
                  <a:moveTo>
                    <a:pt x="0" y="0"/>
                  </a:moveTo>
                  <a:lnTo>
                    <a:pt x="72425467" y="0"/>
                  </a:lnTo>
                  <a:lnTo>
                    <a:pt x="72425467" y="12024519"/>
                  </a:lnTo>
                  <a:lnTo>
                    <a:pt x="0" y="12024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2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570249" cy="12169299"/>
            </a:xfrm>
            <a:custGeom>
              <a:avLst/>
              <a:gdLst/>
              <a:ahLst/>
              <a:cxnLst/>
              <a:rect r="r" b="b" t="t" l="l"/>
              <a:pathLst>
                <a:path h="12169299" w="72570249">
                  <a:moveTo>
                    <a:pt x="72425465" y="12024519"/>
                  </a:moveTo>
                  <a:lnTo>
                    <a:pt x="72570249" y="12024519"/>
                  </a:lnTo>
                  <a:lnTo>
                    <a:pt x="72570249" y="12169299"/>
                  </a:lnTo>
                  <a:lnTo>
                    <a:pt x="72425465" y="12169299"/>
                  </a:lnTo>
                  <a:lnTo>
                    <a:pt x="72425465" y="1202451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2024519"/>
                  </a:lnTo>
                  <a:lnTo>
                    <a:pt x="0" y="12024519"/>
                  </a:lnTo>
                  <a:lnTo>
                    <a:pt x="0" y="144780"/>
                  </a:lnTo>
                  <a:close/>
                  <a:moveTo>
                    <a:pt x="0" y="12024519"/>
                  </a:moveTo>
                  <a:lnTo>
                    <a:pt x="144780" y="12024519"/>
                  </a:lnTo>
                  <a:lnTo>
                    <a:pt x="144780" y="12169299"/>
                  </a:lnTo>
                  <a:lnTo>
                    <a:pt x="0" y="12169299"/>
                  </a:lnTo>
                  <a:lnTo>
                    <a:pt x="0" y="12024519"/>
                  </a:lnTo>
                  <a:close/>
                  <a:moveTo>
                    <a:pt x="72425465" y="144780"/>
                  </a:moveTo>
                  <a:lnTo>
                    <a:pt x="72570249" y="144780"/>
                  </a:lnTo>
                  <a:lnTo>
                    <a:pt x="72570249" y="12024519"/>
                  </a:lnTo>
                  <a:lnTo>
                    <a:pt x="72425465" y="12024519"/>
                  </a:lnTo>
                  <a:lnTo>
                    <a:pt x="72425465" y="144780"/>
                  </a:lnTo>
                  <a:close/>
                  <a:moveTo>
                    <a:pt x="144780" y="12024519"/>
                  </a:moveTo>
                  <a:lnTo>
                    <a:pt x="72425465" y="12024519"/>
                  </a:lnTo>
                  <a:lnTo>
                    <a:pt x="72425465" y="12169299"/>
                  </a:lnTo>
                  <a:lnTo>
                    <a:pt x="144780" y="12169299"/>
                  </a:lnTo>
                  <a:lnTo>
                    <a:pt x="144780" y="12024519"/>
                  </a:lnTo>
                  <a:close/>
                  <a:moveTo>
                    <a:pt x="72425465" y="0"/>
                  </a:moveTo>
                  <a:lnTo>
                    <a:pt x="72570249" y="0"/>
                  </a:lnTo>
                  <a:lnTo>
                    <a:pt x="72570249" y="144780"/>
                  </a:lnTo>
                  <a:lnTo>
                    <a:pt x="72425465" y="144780"/>
                  </a:lnTo>
                  <a:lnTo>
                    <a:pt x="724254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2425465" y="0"/>
                  </a:lnTo>
                  <a:lnTo>
                    <a:pt x="724254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9759" y="4035154"/>
            <a:ext cx="73422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BINOMIALE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147" y="5340743"/>
            <a:ext cx="6927380" cy="398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27"/>
              </a:lnSpc>
            </a:pPr>
            <a:r>
              <a:rPr lang="en-US" sz="566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Une distribution uniforme est une loi de probabilité dans laquelle toutes les valeurs possibles ont la même probabilité.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78590" y="5340743"/>
            <a:ext cx="6244613" cy="426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8"/>
              </a:lnSpc>
            </a:pPr>
            <a:r>
              <a:rPr lang="en-US" sz="505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La distribution binomiale décrit le nombre de succès dans n essais indépendants, où chaque essai a seulement deux résultats possibles (succès ou échec).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BA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548132"/>
            <a:ext cx="17278844" cy="9190735"/>
            <a:chOff x="0" y="0"/>
            <a:chExt cx="160662311" cy="85457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85312606"/>
            </a:xfrm>
            <a:custGeom>
              <a:avLst/>
              <a:gdLst/>
              <a:ahLst/>
              <a:cxnLst/>
              <a:rect r="r" b="b" t="t" l="l"/>
              <a:pathLst>
                <a:path h="85312606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85312606"/>
                  </a:lnTo>
                  <a:lnTo>
                    <a:pt x="0" y="85312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85457382"/>
            </a:xfrm>
            <a:custGeom>
              <a:avLst/>
              <a:gdLst/>
              <a:ahLst/>
              <a:cxnLst/>
              <a:rect r="r" b="b" t="t" l="l"/>
              <a:pathLst>
                <a:path h="85457382" w="160662317">
                  <a:moveTo>
                    <a:pt x="160517532" y="85312603"/>
                  </a:moveTo>
                  <a:lnTo>
                    <a:pt x="160662317" y="85312603"/>
                  </a:lnTo>
                  <a:lnTo>
                    <a:pt x="160662317" y="85457382"/>
                  </a:lnTo>
                  <a:lnTo>
                    <a:pt x="160517532" y="85457382"/>
                  </a:lnTo>
                  <a:lnTo>
                    <a:pt x="160517532" y="853126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5312603"/>
                  </a:lnTo>
                  <a:lnTo>
                    <a:pt x="0" y="85312603"/>
                  </a:lnTo>
                  <a:lnTo>
                    <a:pt x="0" y="144780"/>
                  </a:lnTo>
                  <a:close/>
                  <a:moveTo>
                    <a:pt x="0" y="85312603"/>
                  </a:moveTo>
                  <a:lnTo>
                    <a:pt x="144780" y="85312603"/>
                  </a:lnTo>
                  <a:lnTo>
                    <a:pt x="144780" y="85457382"/>
                  </a:lnTo>
                  <a:lnTo>
                    <a:pt x="0" y="85457382"/>
                  </a:lnTo>
                  <a:lnTo>
                    <a:pt x="0" y="85312603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85312603"/>
                  </a:lnTo>
                  <a:lnTo>
                    <a:pt x="160517532" y="85312603"/>
                  </a:lnTo>
                  <a:lnTo>
                    <a:pt x="160517532" y="144780"/>
                  </a:lnTo>
                  <a:close/>
                  <a:moveTo>
                    <a:pt x="144780" y="85312603"/>
                  </a:moveTo>
                  <a:lnTo>
                    <a:pt x="160517532" y="85312603"/>
                  </a:lnTo>
                  <a:lnTo>
                    <a:pt x="160517532" y="85457382"/>
                  </a:lnTo>
                  <a:lnTo>
                    <a:pt x="144780" y="85457382"/>
                  </a:lnTo>
                  <a:lnTo>
                    <a:pt x="144780" y="85312603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04578" y="548132"/>
          <a:ext cx="17278844" cy="9190735"/>
        </p:xfrm>
        <a:graphic>
          <a:graphicData uri="http://schemas.openxmlformats.org/drawingml/2006/table">
            <a:tbl>
              <a:tblPr/>
              <a:tblGrid>
                <a:gridCol w="3894744"/>
                <a:gridCol w="7213238"/>
                <a:gridCol w="6170861"/>
              </a:tblGrid>
              <a:tr h="32126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Distribution uniforme discrète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On l’utilise quand les valeurs sont finies et distinctes.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2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Distribution uniforme continue</a:t>
                      </a:r>
                      <a:endParaRPr lang="en-US" sz="1100"/>
                    </a:p>
                    <a:p>
                      <a:pPr algn="l">
                        <a:lnSpc>
                          <a:spcPts val="5179"/>
                        </a:lnSpc>
                      </a:pPr>
                    </a:p>
                    <a:p>
                      <a:pPr algn="l">
                        <a:lnSpc>
                          <a:spcPts val="517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 la variable peut prendre toutes les valeurs dans un intervalle.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38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Distribution Binomiale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r>
                        <a:rPr lang="en-US" sz="36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La loi binomiale modélise le nombre de succès dans plusieurs essais indépendants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1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2680609" y="1605494"/>
            <a:ext cx="4305570" cy="1407186"/>
          </a:xfrm>
          <a:custGeom>
            <a:avLst/>
            <a:gdLst/>
            <a:ahLst/>
            <a:cxnLst/>
            <a:rect r="r" b="b" t="t" l="l"/>
            <a:pathLst>
              <a:path h="1407186" w="4305570">
                <a:moveTo>
                  <a:pt x="0" y="0"/>
                </a:moveTo>
                <a:lnTo>
                  <a:pt x="4305570" y="0"/>
                </a:lnTo>
                <a:lnTo>
                  <a:pt x="4305570" y="1407187"/>
                </a:lnTo>
                <a:lnTo>
                  <a:pt x="0" y="1407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66654" y="4146156"/>
            <a:ext cx="4619525" cy="2133781"/>
          </a:xfrm>
          <a:custGeom>
            <a:avLst/>
            <a:gdLst/>
            <a:ahLst/>
            <a:cxnLst/>
            <a:rect r="r" b="b" t="t" l="l"/>
            <a:pathLst>
              <a:path h="2133781" w="4619525">
                <a:moveTo>
                  <a:pt x="0" y="0"/>
                </a:moveTo>
                <a:lnTo>
                  <a:pt x="4619525" y="0"/>
                </a:lnTo>
                <a:lnTo>
                  <a:pt x="4619525" y="2133780"/>
                </a:lnTo>
                <a:lnTo>
                  <a:pt x="0" y="2133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8016" y="7409301"/>
            <a:ext cx="5916801" cy="1516180"/>
          </a:xfrm>
          <a:custGeom>
            <a:avLst/>
            <a:gdLst/>
            <a:ahLst/>
            <a:cxnLst/>
            <a:rect r="r" b="b" t="t" l="l"/>
            <a:pathLst>
              <a:path h="1516180" w="5916801">
                <a:moveTo>
                  <a:pt x="0" y="0"/>
                </a:moveTo>
                <a:lnTo>
                  <a:pt x="5916802" y="0"/>
                </a:lnTo>
                <a:lnTo>
                  <a:pt x="5916802" y="1516180"/>
                </a:lnTo>
                <a:lnTo>
                  <a:pt x="0" y="1516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BA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578" y="1576844"/>
            <a:ext cx="17278844" cy="6123284"/>
            <a:chOff x="0" y="0"/>
            <a:chExt cx="160662311" cy="56935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60517535" cy="56790793"/>
            </a:xfrm>
            <a:custGeom>
              <a:avLst/>
              <a:gdLst/>
              <a:ahLst/>
              <a:cxnLst/>
              <a:rect r="r" b="b" t="t" l="l"/>
              <a:pathLst>
                <a:path h="56790793" w="160517535">
                  <a:moveTo>
                    <a:pt x="0" y="0"/>
                  </a:moveTo>
                  <a:lnTo>
                    <a:pt x="160517535" y="0"/>
                  </a:lnTo>
                  <a:lnTo>
                    <a:pt x="160517535" y="56790793"/>
                  </a:lnTo>
                  <a:lnTo>
                    <a:pt x="0" y="567907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662317" cy="56935576"/>
            </a:xfrm>
            <a:custGeom>
              <a:avLst/>
              <a:gdLst/>
              <a:ahLst/>
              <a:cxnLst/>
              <a:rect r="r" b="b" t="t" l="l"/>
              <a:pathLst>
                <a:path h="56935576" w="160662317">
                  <a:moveTo>
                    <a:pt x="160517532" y="56790797"/>
                  </a:moveTo>
                  <a:lnTo>
                    <a:pt x="160662317" y="56790797"/>
                  </a:lnTo>
                  <a:lnTo>
                    <a:pt x="160662317" y="56935576"/>
                  </a:lnTo>
                  <a:lnTo>
                    <a:pt x="160517532" y="56935576"/>
                  </a:lnTo>
                  <a:lnTo>
                    <a:pt x="160517532" y="5679079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56790797"/>
                  </a:lnTo>
                  <a:lnTo>
                    <a:pt x="0" y="56790797"/>
                  </a:lnTo>
                  <a:lnTo>
                    <a:pt x="0" y="144780"/>
                  </a:lnTo>
                  <a:close/>
                  <a:moveTo>
                    <a:pt x="0" y="56790797"/>
                  </a:moveTo>
                  <a:lnTo>
                    <a:pt x="144780" y="56790797"/>
                  </a:lnTo>
                  <a:lnTo>
                    <a:pt x="144780" y="56935576"/>
                  </a:lnTo>
                  <a:lnTo>
                    <a:pt x="0" y="56935576"/>
                  </a:lnTo>
                  <a:lnTo>
                    <a:pt x="0" y="56790797"/>
                  </a:lnTo>
                  <a:close/>
                  <a:moveTo>
                    <a:pt x="160517532" y="144780"/>
                  </a:moveTo>
                  <a:lnTo>
                    <a:pt x="160662317" y="144780"/>
                  </a:lnTo>
                  <a:lnTo>
                    <a:pt x="160662317" y="56790797"/>
                  </a:lnTo>
                  <a:lnTo>
                    <a:pt x="160517532" y="56790797"/>
                  </a:lnTo>
                  <a:lnTo>
                    <a:pt x="160517532" y="144780"/>
                  </a:lnTo>
                  <a:close/>
                  <a:moveTo>
                    <a:pt x="144780" y="56790797"/>
                  </a:moveTo>
                  <a:lnTo>
                    <a:pt x="160517532" y="56790797"/>
                  </a:lnTo>
                  <a:lnTo>
                    <a:pt x="160517532" y="56935576"/>
                  </a:lnTo>
                  <a:lnTo>
                    <a:pt x="144780" y="56935576"/>
                  </a:lnTo>
                  <a:lnTo>
                    <a:pt x="144780" y="56790797"/>
                  </a:lnTo>
                  <a:close/>
                  <a:moveTo>
                    <a:pt x="160517532" y="0"/>
                  </a:moveTo>
                  <a:lnTo>
                    <a:pt x="160662317" y="0"/>
                  </a:lnTo>
                  <a:lnTo>
                    <a:pt x="160662317" y="144780"/>
                  </a:lnTo>
                  <a:lnTo>
                    <a:pt x="160517532" y="144780"/>
                  </a:lnTo>
                  <a:lnTo>
                    <a:pt x="16051753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60517532" y="0"/>
                  </a:lnTo>
                  <a:lnTo>
                    <a:pt x="16051753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04578" y="1576844"/>
          <a:ext cx="17278844" cy="6123284"/>
        </p:xfrm>
        <a:graphic>
          <a:graphicData uri="http://schemas.openxmlformats.org/drawingml/2006/table">
            <a:tbl>
              <a:tblPr/>
              <a:tblGrid>
                <a:gridCol w="5889880"/>
                <a:gridCol w="5718490"/>
                <a:gridCol w="5670474"/>
              </a:tblGrid>
              <a:tr h="23293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EXEMPLE BINOMIALE</a:t>
                      </a: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(discrète)</a:t>
                      </a:r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EXEMPLE  UNIFORME</a:t>
                      </a:r>
                      <a:endParaRPr lang="en-US" sz="1100"/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EXEMPLE BINOMIALE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KG Primary Penmanship"/>
                          <a:ea typeface="KG Primary Penmanship"/>
                          <a:cs typeface="KG Primary Penmanship"/>
                          <a:sym typeface="KG Primary Penmanship"/>
                        </a:rPr>
                        <a:t>(coninue)</a:t>
                      </a:r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690"/>
                    </a:solidFill>
                  </a:tcPr>
                </a:tc>
              </a:tr>
              <a:tr h="37938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079"/>
                        </a:lnSpc>
                      </a:pPr>
                    </a:p>
                  </a:txBody>
                  <a:tcPr marL="103978" marR="103978" marT="103978" marB="103978" anchor="ctr">
                    <a:lnL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0796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50497" y="4493998"/>
            <a:ext cx="5532239" cy="2372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LANCE UNE PIÈCE 4 FOIS.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On cherche le nombre de piles.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 = 4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 = 0,5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 valeurs possibles sont :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0, 1, 2, 3, 4</a:t>
            </a:r>
          </a:p>
          <a:p>
            <a:pPr algn="ctr">
              <a:lnSpc>
                <a:spcPts val="2301"/>
              </a:lnSpc>
            </a:pPr>
            <a:r>
              <a:rPr lang="en-US" sz="16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C’est discret car on compte un nombre entier de succès.</a:t>
            </a:r>
          </a:p>
          <a:p>
            <a:pPr algn="ctr">
              <a:lnSpc>
                <a:spcPts val="284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342486" y="4438724"/>
            <a:ext cx="4038483" cy="1859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LANCE UN DÉ ÉQUILIBRÉ.</a:t>
            </a:r>
          </a:p>
          <a:p>
            <a:pPr algn="ctr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Valeurs possibles : 1, 2, 3, 4, 5, 6</a:t>
            </a:r>
          </a:p>
          <a:p>
            <a:pPr algn="ctr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Chaque valeur a la même probabilité :</a:t>
            </a:r>
          </a:p>
          <a:p>
            <a:pPr algn="ctr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P(X = k) = 1/6</a:t>
            </a:r>
          </a:p>
          <a:p>
            <a:pPr algn="ctr">
              <a:lnSpc>
                <a:spcPts val="2342"/>
              </a:lnSpc>
            </a:pPr>
            <a:r>
              <a:rPr lang="en-US" sz="167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C’est discret car les valeurs sont séparées (entiers).</a:t>
            </a:r>
          </a:p>
          <a:p>
            <a:pPr algn="ctr">
              <a:lnSpc>
                <a:spcPts val="26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227323" y="4227125"/>
            <a:ext cx="3531206" cy="291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CHOISIT UN NOMBRE AU HASARD ENTRE 0 ET 10.</a:t>
            </a:r>
          </a:p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Toutes les valeurs entre 0 et 10 sont possibles</a:t>
            </a:r>
          </a:p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(ex : 2,5 ; 7,83 ; 1,002 ; etc.)</a:t>
            </a:r>
          </a:p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densité est :</a:t>
            </a:r>
          </a:p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f(x) = 1 / (10 − 0) = 1/10</a:t>
            </a:r>
          </a:p>
          <a:p>
            <a:pPr algn="ctr">
              <a:lnSpc>
                <a:spcPts val="2293"/>
              </a:lnSpc>
            </a:pPr>
            <a:r>
              <a:rPr lang="en-US" sz="16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C’est continu car il y a une infinité de valeurs possibles.</a:t>
            </a:r>
          </a:p>
          <a:p>
            <a:pPr algn="ctr">
              <a:lnSpc>
                <a:spcPts val="22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DAHCUkqdHBw</dc:identifier>
  <dcterms:modified xsi:type="dcterms:W3CDTF">2011-08-01T06:04:30Z</dcterms:modified>
  <cp:revision>1</cp:revision>
  <dc:title>Votre texte de paragraphe</dc:title>
</cp:coreProperties>
</file>